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4" r:id="rId4"/>
    <p:sldId id="267" r:id="rId5"/>
    <p:sldId id="257" r:id="rId6"/>
    <p:sldId id="258" r:id="rId7"/>
    <p:sldId id="259" r:id="rId8"/>
    <p:sldId id="260" r:id="rId9"/>
    <p:sldId id="265" r:id="rId10"/>
    <p:sldId id="261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adsan%20Teach\Downloads\update1245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aadsan%20Teach\Downloads\update1245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abdi\Downloads\Abdinajib123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abdi\Downloads\Abdinajib123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/>
            </a:pPr>
            <a:r>
              <a:rPr lang="en-US"/>
              <a:t>Attendance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Present</c:v>
                </c:pt>
                <c:pt idx="1">
                  <c:v>Late</c:v>
                </c:pt>
                <c:pt idx="2">
                  <c:v>Absent</c:v>
                </c:pt>
                <c:pt idx="3">
                  <c:v>Remote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168</c:v>
                </c:pt>
                <c:pt idx="1">
                  <c:v>45</c:v>
                </c:pt>
                <c:pt idx="2">
                  <c:v>21</c:v>
                </c:pt>
                <c:pt idx="3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C7-4B46-B086-1B3D5E01E0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9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[update12456.xlsx]PivotTables!PivotTable2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Employees by Department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</c:pivotFmt>
      <c:pivotFmt>
        <c:idx val="2"/>
        <c:spPr>
          <a:solidFill>
            <a:schemeClr val="tx1"/>
          </a:solidFill>
          <a:ln>
            <a:noFill/>
          </a:ln>
          <a:effectLst/>
        </c:spPr>
      </c:pivotFmt>
      <c:pivotFmt>
        <c:idx val="3"/>
        <c:spPr>
          <a:solidFill>
            <a:schemeClr val="bg2"/>
          </a:solidFill>
          <a:ln>
            <a:noFill/>
          </a:ln>
          <a:effectLst/>
        </c:spPr>
      </c:pivotFmt>
      <c:pivotFmt>
        <c:idx val="4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</c:pivotFmt>
      <c:pivotFmt>
        <c:idx val="5"/>
        <c:spPr>
          <a:solidFill>
            <a:schemeClr val="accent4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bg2"/>
          </a:solidFill>
          <a:ln>
            <a:noFill/>
          </a:ln>
          <a:effectLst/>
        </c:spPr>
      </c:pivotFmt>
      <c:pivotFmt>
        <c:idx val="8"/>
        <c:spPr>
          <a:solidFill>
            <a:schemeClr val="tx1"/>
          </a:solidFill>
          <a:ln>
            <a:noFill/>
          </a:ln>
          <a:effectLst/>
        </c:spPr>
      </c:pivotFmt>
      <c:pivotFmt>
        <c:idx val="9"/>
        <c:spPr>
          <a:solidFill>
            <a:schemeClr val="accent2"/>
          </a:solidFill>
          <a:ln>
            <a:noFill/>
          </a:ln>
          <a:effectLst/>
        </c:spPr>
      </c:pivotFmt>
      <c:pivotFmt>
        <c:idx val="10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</c:pivotFmt>
      <c:pivotFmt>
        <c:idx val="11"/>
        <c:spPr>
          <a:solidFill>
            <a:schemeClr val="accent4"/>
          </a:solidFill>
          <a:ln>
            <a:noFill/>
          </a:ln>
          <a:effectLst/>
        </c:spP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bg2"/>
          </a:solidFill>
          <a:ln>
            <a:noFill/>
          </a:ln>
          <a:effectLst/>
        </c:spPr>
      </c:pivotFmt>
      <c:pivotFmt>
        <c:idx val="14"/>
        <c:spPr>
          <a:solidFill>
            <a:schemeClr val="tx1"/>
          </a:solidFill>
          <a:ln>
            <a:noFill/>
          </a:ln>
          <a:effectLst/>
        </c:spPr>
      </c:pivotFmt>
      <c:pivotFmt>
        <c:idx val="15"/>
        <c:spPr>
          <a:solidFill>
            <a:schemeClr val="accent2"/>
          </a:solidFill>
          <a:ln>
            <a:noFill/>
          </a:ln>
          <a:effectLst/>
        </c:spPr>
      </c:pivotFmt>
      <c:pivotFmt>
        <c:idx val="16"/>
        <c:spPr>
          <a:solidFill>
            <a:schemeClr val="accent6">
              <a:lumMod val="50000"/>
            </a:schemeClr>
          </a:solidFill>
          <a:ln>
            <a:noFill/>
          </a:ln>
          <a:effectLst/>
        </c:spPr>
      </c:pivotFmt>
      <c:pivotFmt>
        <c:idx val="17"/>
        <c:spPr>
          <a:solidFill>
            <a:schemeClr val="accent4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PivotTables!$B$19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684-45E9-BFC4-CB0DA4AA1CFE}"/>
              </c:ext>
            </c:extLst>
          </c:dPt>
          <c:dPt>
            <c:idx val="1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684-45E9-BFC4-CB0DA4AA1CF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684-45E9-BFC4-CB0DA4AA1CF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684-45E9-BFC4-CB0DA4AA1CF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684-45E9-BFC4-CB0DA4AA1CFE}"/>
              </c:ext>
            </c:extLst>
          </c:dPt>
          <c:cat>
            <c:strRef>
              <c:f>PivotTables!$A$20:$A$26</c:f>
              <c:strCache>
                <c:ptCount val="6"/>
                <c:pt idx="0">
                  <c:v>Administration</c:v>
                </c:pt>
                <c:pt idx="1">
                  <c:v>Finance</c:v>
                </c:pt>
                <c:pt idx="2">
                  <c:v>HR</c:v>
                </c:pt>
                <c:pt idx="3">
                  <c:v>IT</c:v>
                </c:pt>
                <c:pt idx="4">
                  <c:v>Operations</c:v>
                </c:pt>
                <c:pt idx="5">
                  <c:v>Sales</c:v>
                </c:pt>
              </c:strCache>
            </c:strRef>
          </c:cat>
          <c:val>
            <c:numRef>
              <c:f>PivotTables!$B$20:$B$26</c:f>
              <c:numCache>
                <c:formatCode>General</c:formatCode>
                <c:ptCount val="6"/>
                <c:pt idx="0">
                  <c:v>30</c:v>
                </c:pt>
                <c:pt idx="1">
                  <c:v>45</c:v>
                </c:pt>
                <c:pt idx="2">
                  <c:v>20</c:v>
                </c:pt>
                <c:pt idx="3">
                  <c:v>76</c:v>
                </c:pt>
                <c:pt idx="4">
                  <c:v>51</c:v>
                </c:pt>
                <c:pt idx="5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684-45E9-BFC4-CB0DA4AA1C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60541775"/>
        <c:axId val="162717711"/>
      </c:barChart>
      <c:catAx>
        <c:axId val="6605417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717711"/>
        <c:crosses val="autoZero"/>
        <c:auto val="1"/>
        <c:lblAlgn val="ctr"/>
        <c:lblOffset val="100"/>
        <c:noMultiLvlLbl val="0"/>
      </c:catAx>
      <c:valAx>
        <c:axId val="162717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0541775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[update12456.xlsx]PivotTables!PivotTable3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Attendance by Shift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PivotTables!$B$35:$B$36</c:f>
              <c:strCache>
                <c:ptCount val="1"/>
                <c:pt idx="0">
                  <c:v>Absent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PivotTables!$A$37:$A$39</c:f>
              <c:strCache>
                <c:ptCount val="2"/>
                <c:pt idx="0">
                  <c:v>Evening</c:v>
                </c:pt>
                <c:pt idx="1">
                  <c:v>Morning</c:v>
                </c:pt>
              </c:strCache>
            </c:strRef>
          </c:cat>
          <c:val>
            <c:numRef>
              <c:f>PivotTables!$B$37:$B$39</c:f>
              <c:numCache>
                <c:formatCode>General</c:formatCode>
                <c:ptCount val="2"/>
                <c:pt idx="0">
                  <c:v>6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B5-49A3-B8BE-2DE4F1D8E1A6}"/>
            </c:ext>
          </c:extLst>
        </c:ser>
        <c:ser>
          <c:idx val="1"/>
          <c:order val="1"/>
          <c:tx>
            <c:strRef>
              <c:f>PivotTables!$C$35:$C$36</c:f>
              <c:strCache>
                <c:ptCount val="1"/>
                <c:pt idx="0">
                  <c:v>Late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PivotTables!$A$37:$A$39</c:f>
              <c:strCache>
                <c:ptCount val="2"/>
                <c:pt idx="0">
                  <c:v>Evening</c:v>
                </c:pt>
                <c:pt idx="1">
                  <c:v>Morning</c:v>
                </c:pt>
              </c:strCache>
            </c:strRef>
          </c:cat>
          <c:val>
            <c:numRef>
              <c:f>PivotTables!$C$37:$C$39</c:f>
              <c:numCache>
                <c:formatCode>General</c:formatCode>
                <c:ptCount val="2"/>
                <c:pt idx="0">
                  <c:v>16</c:v>
                </c:pt>
                <c:pt idx="1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B5-49A3-B8BE-2DE4F1D8E1A6}"/>
            </c:ext>
          </c:extLst>
        </c:ser>
        <c:ser>
          <c:idx val="2"/>
          <c:order val="2"/>
          <c:tx>
            <c:strRef>
              <c:f>PivotTables!$D$35:$D$36</c:f>
              <c:strCache>
                <c:ptCount val="1"/>
                <c:pt idx="0">
                  <c:v>Present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PivotTables!$A$37:$A$39</c:f>
              <c:strCache>
                <c:ptCount val="2"/>
                <c:pt idx="0">
                  <c:v>Evening</c:v>
                </c:pt>
                <c:pt idx="1">
                  <c:v>Morning</c:v>
                </c:pt>
              </c:strCache>
            </c:strRef>
          </c:cat>
          <c:val>
            <c:numRef>
              <c:f>PivotTables!$D$37:$D$39</c:f>
              <c:numCache>
                <c:formatCode>General</c:formatCode>
                <c:ptCount val="2"/>
                <c:pt idx="0">
                  <c:v>58</c:v>
                </c:pt>
                <c:pt idx="1">
                  <c:v>110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1B5-49A3-B8BE-2DE4F1D8E1A6}"/>
            </c:ext>
          </c:extLst>
        </c:ser>
        <c:ser>
          <c:idx val="3"/>
          <c:order val="3"/>
          <c:tx>
            <c:strRef>
              <c:f>PivotTables!$E$35:$E$36</c:f>
              <c:strCache>
                <c:ptCount val="1"/>
                <c:pt idx="0">
                  <c:v>Remote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PivotTables!$A$37:$A$39</c:f>
              <c:strCache>
                <c:ptCount val="2"/>
                <c:pt idx="0">
                  <c:v>Evening</c:v>
                </c:pt>
                <c:pt idx="1">
                  <c:v>Morning</c:v>
                </c:pt>
              </c:strCache>
            </c:strRef>
          </c:cat>
          <c:val>
            <c:numRef>
              <c:f>PivotTables!$E$37:$E$39</c:f>
              <c:numCache>
                <c:formatCode>General</c:formatCode>
                <c:ptCount val="2"/>
                <c:pt idx="0">
                  <c:v>8</c:v>
                </c:pt>
                <c:pt idx="1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1B5-49A3-B8BE-2DE4F1D8E1A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63698943"/>
        <c:axId val="162700431"/>
      </c:barChart>
      <c:catAx>
        <c:axId val="6636989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700431"/>
        <c:crosses val="autoZero"/>
        <c:auto val="1"/>
        <c:lblAlgn val="ctr"/>
        <c:lblOffset val="100"/>
        <c:noMultiLvlLbl val="0"/>
      </c:catAx>
      <c:valAx>
        <c:axId val="162700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3698943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[Abdinajib123.xlsx]PivotTables!PivotTable1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Attendance Status by Department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PivotTables!$B$3:$B$4</c:f>
              <c:strCache>
                <c:ptCount val="1"/>
                <c:pt idx="0">
                  <c:v>Absent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PivotTables!$A$5:$A$7</c:f>
              <c:strCache>
                <c:ptCount val="2"/>
                <c:pt idx="0">
                  <c:v>Finance</c:v>
                </c:pt>
                <c:pt idx="1">
                  <c:v>IT</c:v>
                </c:pt>
              </c:strCache>
            </c:strRef>
          </c:cat>
          <c:val>
            <c:numRef>
              <c:f>PivotTables!$B$5:$B$7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79-427F-8A00-74E849A2B7E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55938591"/>
        <c:axId val="162725871"/>
      </c:barChart>
      <c:catAx>
        <c:axId val="455938591"/>
        <c:scaling>
          <c:orientation val="minMax"/>
        </c:scaling>
        <c:delete val="0"/>
        <c:axPos val="b"/>
        <c:title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725871"/>
        <c:crosses val="autoZero"/>
        <c:auto val="1"/>
        <c:lblAlgn val="ctr"/>
        <c:lblOffset val="100"/>
        <c:noMultiLvlLbl val="0"/>
      </c:catAx>
      <c:valAx>
        <c:axId val="162725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5938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[Abdinajib123.xlsx]PivotTables!PivotTable4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Attendance Status Overall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92D050"/>
          </a:solidFill>
          <a:ln>
            <a:noFill/>
          </a:ln>
          <a:effectLst/>
        </c:spPr>
      </c:pivotFmt>
      <c:pivotFmt>
        <c:idx val="2"/>
        <c:spPr>
          <a:solidFill>
            <a:srgbClr val="FFC000"/>
          </a:solidFill>
          <a:ln>
            <a:noFill/>
          </a:ln>
          <a:effectLst/>
        </c:spPr>
      </c:pivotFmt>
      <c:pivotFmt>
        <c:idx val="3"/>
        <c:spPr>
          <a:solidFill>
            <a:srgbClr val="FF0000"/>
          </a:solidFill>
          <a:ln>
            <a:noFill/>
          </a:ln>
          <a:effectLst/>
        </c:spP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rgbClr val="FF0000"/>
          </a:solidFill>
          <a:ln>
            <a:noFill/>
          </a:ln>
          <a:effectLst/>
        </c:spPr>
      </c:pivotFmt>
      <c:pivotFmt>
        <c:idx val="6"/>
        <c:spPr>
          <a:solidFill>
            <a:srgbClr val="FFC000"/>
          </a:solidFill>
          <a:ln>
            <a:noFill/>
          </a:ln>
          <a:effectLst/>
        </c:spPr>
      </c:pivotFmt>
      <c:pivotFmt>
        <c:idx val="7"/>
        <c:spPr>
          <a:solidFill>
            <a:srgbClr val="92D050"/>
          </a:solidFill>
          <a:ln>
            <a:noFill/>
          </a:ln>
          <a:effectLst/>
        </c:spPr>
      </c:pivotFmt>
      <c:pivotFmt>
        <c:idx val="8"/>
        <c:spPr>
          <a:solidFill>
            <a:srgbClr val="FF0000"/>
          </a:solidFill>
          <a:ln>
            <a:noFill/>
          </a:ln>
          <a:effectLst/>
        </c:spP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rgbClr val="FF0000"/>
          </a:solidFill>
          <a:ln>
            <a:noFill/>
          </a:ln>
          <a:effectLst/>
        </c:spPr>
      </c:pivotFmt>
      <c:pivotFmt>
        <c:idx val="11"/>
        <c:spPr>
          <a:solidFill>
            <a:srgbClr val="FFC000"/>
          </a:solidFill>
          <a:ln>
            <a:noFill/>
          </a:ln>
          <a:effectLst/>
        </c:spPr>
      </c:pivotFmt>
      <c:pivotFmt>
        <c:idx val="12"/>
        <c:spPr>
          <a:solidFill>
            <a:srgbClr val="92D050"/>
          </a:solidFill>
          <a:ln>
            <a:noFill/>
          </a:ln>
          <a:effectLst/>
        </c:spPr>
      </c:pivotFmt>
      <c:pivotFmt>
        <c:idx val="13"/>
        <c:spPr>
          <a:solidFill>
            <a:srgbClr val="FF0000"/>
          </a:solidFill>
          <a:ln>
            <a:noFill/>
          </a:ln>
          <a:effectLst/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PivotTables!$B$54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77C-4872-BFC5-9522FE65F8BE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77C-4872-BFC5-9522FE65F8BE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77C-4872-BFC5-9522FE65F8BE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77C-4872-BFC5-9522FE65F8B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PivotTables!$A$55:$A$59</c:f>
              <c:strCache>
                <c:ptCount val="4"/>
                <c:pt idx="0">
                  <c:v>Absent</c:v>
                </c:pt>
                <c:pt idx="1">
                  <c:v>Late</c:v>
                </c:pt>
                <c:pt idx="2">
                  <c:v>Present</c:v>
                </c:pt>
                <c:pt idx="3">
                  <c:v>Remote</c:v>
                </c:pt>
              </c:strCache>
            </c:strRef>
          </c:cat>
          <c:val>
            <c:numRef>
              <c:f>PivotTables!$B$55:$B$59</c:f>
              <c:numCache>
                <c:formatCode>General</c:formatCode>
                <c:ptCount val="4"/>
                <c:pt idx="0">
                  <c:v>17</c:v>
                </c:pt>
                <c:pt idx="1">
                  <c:v>33</c:v>
                </c:pt>
                <c:pt idx="2">
                  <c:v>116</c:v>
                </c:pt>
                <c:pt idx="3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77C-4872-BFC5-9522FE65F8B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663692447"/>
        <c:axId val="162714351"/>
      </c:barChart>
      <c:catAx>
        <c:axId val="6636924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2714351"/>
        <c:crosses val="autoZero"/>
        <c:auto val="1"/>
        <c:lblAlgn val="ctr"/>
        <c:lblOffset val="100"/>
        <c:noMultiLvlLbl val="0"/>
      </c:catAx>
      <c:valAx>
        <c:axId val="1627143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36924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274"/>
            <a:ext cx="12191695" cy="6858000"/>
          </a:xfrm>
          <a:prstGeom prst="rect">
            <a:avLst/>
          </a:prstGeom>
          <a:solidFill>
            <a:srgbClr val="1F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00887" y="3018034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/>
              <a:t>EMPLOYEE ATTENDANCE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A902B-61D9-53C0-E47F-D2B078E4F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F90741A-C0F9-514F-5E1F-66D7F1ECE5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73544"/>
            <a:ext cx="11191126" cy="1470025"/>
          </a:xfrm>
          <a:prstGeom prst="rect">
            <a:avLst/>
          </a:prstGeom>
          <a:solidFill>
            <a:srgbClr val="1F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Overview dataset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FA1F18F-6D77-E2F0-5ED9-D4402E74FFC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60460" y="2397235"/>
            <a:ext cx="9650002" cy="3274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Employee dataset contains </a:t>
            </a:r>
            <a:r>
              <a:rPr lang="en-US" sz="2000" b="1" dirty="0">
                <a:solidFill>
                  <a:schemeClr val="tx1"/>
                </a:solidFill>
              </a:rPr>
              <a:t>300 employee attendance records</a:t>
            </a:r>
            <a:r>
              <a:rPr lang="en-US" sz="2000" dirty="0">
                <a:solidFill>
                  <a:schemeClr val="tx1"/>
                </a:solidFill>
              </a:rPr>
              <a:t> collected to analyze employee attendance patterns across different departments and shifts. Each record includes </a:t>
            </a:r>
            <a:r>
              <a:rPr lang="en-US" sz="2000" b="1" dirty="0">
                <a:solidFill>
                  <a:schemeClr val="tx1"/>
                </a:solidFill>
              </a:rPr>
              <a:t>Employee ID, Attendance Date, Department, Shift, Check-In, Check-Out, and Attendance Status</a:t>
            </a:r>
            <a:r>
              <a:rPr lang="en-US" sz="2000" dirty="0">
                <a:solidFill>
                  <a:schemeClr val="tx1"/>
                </a:solidFill>
              </a:rPr>
              <a:t>. During data cleaning, </a:t>
            </a:r>
            <a:r>
              <a:rPr lang="en-US" sz="2000" b="1" dirty="0">
                <a:solidFill>
                  <a:schemeClr val="tx1"/>
                </a:solidFill>
              </a:rPr>
              <a:t>7 duplicate records were identified and removed</a:t>
            </a:r>
            <a:r>
              <a:rPr lang="en-US" sz="2000" dirty="0">
                <a:solidFill>
                  <a:schemeClr val="tx1"/>
                </a:solidFill>
              </a:rPr>
              <a:t>, reducing the dataset to </a:t>
            </a:r>
            <a:r>
              <a:rPr lang="en-US" sz="2000" b="1" dirty="0">
                <a:solidFill>
                  <a:schemeClr val="tx1"/>
                </a:solidFill>
              </a:rPr>
              <a:t>293 records</a:t>
            </a:r>
            <a:r>
              <a:rPr lang="en-US" sz="2000" dirty="0">
                <a:solidFill>
                  <a:schemeClr val="tx1"/>
                </a:solidFill>
              </a:rPr>
              <a:t>. In addition, records with critical missing </a:t>
            </a:r>
            <a:r>
              <a:rPr lang="en-US" sz="2000" b="1" dirty="0">
                <a:solidFill>
                  <a:schemeClr val="tx1"/>
                </a:solidFill>
              </a:rPr>
              <a:t>Employee IDs and Attendance Dates</a:t>
            </a:r>
            <a:r>
              <a:rPr lang="en-US" sz="2000" dirty="0">
                <a:solidFill>
                  <a:schemeClr val="tx1"/>
                </a:solidFill>
              </a:rPr>
              <a:t> were removed, resulting in </a:t>
            </a:r>
            <a:r>
              <a:rPr lang="en-US" sz="2000" b="1" dirty="0">
                <a:solidFill>
                  <a:schemeClr val="tx1"/>
                </a:solidFill>
              </a:rPr>
              <a:t>261 valid attendance records</a:t>
            </a:r>
            <a:r>
              <a:rPr lang="en-US" sz="2000" dirty="0">
                <a:solidFill>
                  <a:schemeClr val="tx1"/>
                </a:solidFill>
              </a:rPr>
              <a:t> for further analysis.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8469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E38D9-FC78-4BCD-55BF-0A0A81D82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D3540EA-29FE-CC4D-8EBC-740B56EB0EC6}"/>
              </a:ext>
            </a:extLst>
          </p:cNvPr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A5273E-486A-6815-A2CA-B61BBA359BF2}"/>
              </a:ext>
            </a:extLst>
          </p:cNvPr>
          <p:cNvSpPr txBox="1"/>
          <p:nvPr/>
        </p:nvSpPr>
        <p:spPr>
          <a:xfrm>
            <a:off x="502920" y="164592"/>
            <a:ext cx="47003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Methodology</a:t>
            </a:r>
            <a:endParaRPr lang="en-US" sz="2800" dirty="0">
              <a:solidFill>
                <a:schemeClr val="bg1"/>
              </a:solidFill>
            </a:endParaRPr>
          </a:p>
        </p:txBody>
      </p:sp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61666DE9-41F1-8311-BFD4-45B3A5EE0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30452"/>
              </p:ext>
            </p:extLst>
          </p:nvPr>
        </p:nvGraphicFramePr>
        <p:xfrm>
          <a:off x="640080" y="1385047"/>
          <a:ext cx="10881360" cy="4535424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Employee_ID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is a unique identifier and cannot be reliably estimated.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Attendance_Date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correct attendance date cannot be reliably determined.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is categorical, so the most frequent category can be used.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Check-In based / 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Check-In time can indicate the shift; otherwise the mode is used.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is numeric and the median is less affected by outliers.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Check_Out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is numeric and the median suits missing time values.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Attendance_Status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 rule / Mode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A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from Check-In/Check-Out; otherwise the mode is used.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428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42FA2D-8BAA-EDD8-F639-A4497182D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73544"/>
            <a:ext cx="11191126" cy="1470025"/>
          </a:xfrm>
          <a:prstGeom prst="rect">
            <a:avLst/>
          </a:prstGeom>
          <a:solidFill>
            <a:srgbClr val="1F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Inconsistencies Data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73F59D-D586-0CB1-45C5-99FE08A5EC2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57719" y="2437893"/>
            <a:ext cx="1119112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operations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Operations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 department names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MORNING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Morning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 to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Morning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Evening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Shift vs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Check_In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Shift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Check_In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time sometimes do not match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Check_In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time to verify and correct the Shift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Check_In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time formats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 to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HH:MM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Check_Out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time formats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 to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HH:MM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Attendance_Status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present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Present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absent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Absent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Standardize capitalization to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Present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Absent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99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Data Cleaning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E7680"/>
                </a:solidFill>
              </a:defRPr>
            </a:pPr>
            <a:r>
              <a:t>The workbook starts with 300 records and applies the documented cleaning steps.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2331720" cy="1417320"/>
          </a:xfrm>
          <a:prstGeom prst="roundRect">
            <a:avLst/>
          </a:prstGeom>
          <a:solidFill>
            <a:srgbClr val="EFF4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82296" cy="1417320"/>
          </a:xfrm>
          <a:prstGeom prst="rect">
            <a:avLst/>
          </a:prstGeom>
          <a:solidFill>
            <a:srgbClr val="3D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9933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7680"/>
                </a:solidFill>
              </a:defRPr>
            </a:pPr>
            <a:r>
              <a:t>Original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304288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83038"/>
                </a:solidFill>
              </a:defRPr>
            </a:pPr>
            <a:r>
              <a:t>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25856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E7680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828800"/>
            <a:ext cx="2331720" cy="1417320"/>
          </a:xfrm>
          <a:prstGeom prst="roundRect">
            <a:avLst/>
          </a:prstGeom>
          <a:solidFill>
            <a:srgbClr val="EFF4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828800"/>
            <a:ext cx="82296" cy="1417320"/>
          </a:xfrm>
          <a:prstGeom prst="rect">
            <a:avLst/>
          </a:prstGeom>
          <a:solidFill>
            <a:srgbClr val="D6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19933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7680"/>
                </a:solidFill>
              </a:defRPr>
            </a:pPr>
            <a:r>
              <a:t>Remove duplicates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304288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83038"/>
                </a:solidFill>
              </a:defRPr>
            </a:pPr>
            <a:r>
              <a:t>293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225856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E7680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28800"/>
            <a:ext cx="2331720" cy="1417320"/>
          </a:xfrm>
          <a:prstGeom prst="roundRect">
            <a:avLst/>
          </a:prstGeom>
          <a:solidFill>
            <a:srgbClr val="EFF4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82296" cy="1417320"/>
          </a:xfrm>
          <a:prstGeom prst="rect">
            <a:avLst/>
          </a:prstGeom>
          <a:solidFill>
            <a:srgbClr val="D6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19933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7680"/>
                </a:solidFill>
              </a:defRPr>
            </a:pPr>
            <a:r>
              <a:t>Remove blank 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304288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83038"/>
                </a:solidFill>
              </a:defRPr>
            </a:pPr>
            <a:r>
              <a:t>278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232" y="2258568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E7680"/>
                </a:solidFill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828800"/>
            <a:ext cx="2331720" cy="1417320"/>
          </a:xfrm>
          <a:prstGeom prst="roundRect">
            <a:avLst/>
          </a:prstGeom>
          <a:solidFill>
            <a:srgbClr val="EFF4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1828800"/>
            <a:ext cx="82296" cy="1417320"/>
          </a:xfrm>
          <a:prstGeom prst="rect">
            <a:avLst/>
          </a:prstGeom>
          <a:solidFill>
            <a:srgbClr val="3F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45168" y="1993392"/>
            <a:ext cx="2011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7680"/>
                </a:solidFill>
              </a:defRPr>
            </a:pPr>
            <a:r>
              <a:t>Remove missing attendance dates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304288"/>
            <a:ext cx="2011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83038"/>
                </a:solidFill>
              </a:defRPr>
            </a:pPr>
            <a:r>
              <a:t>261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B64"/>
                </a:solidFill>
              </a:defRPr>
            </a:pPr>
            <a:r>
              <a:t>Documented missing-data guidance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343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8"/>
                </a:solidFill>
              </a:defRPr>
            </a:pPr>
            <a:r>
              <a:t>• Employee_ID: delete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7274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8"/>
                </a:solidFill>
              </a:defRPr>
            </a:pPr>
            <a:r>
              <a:t>• Attendance_Date: delete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1114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8"/>
                </a:solidFill>
              </a:defRPr>
            </a:pPr>
            <a:r>
              <a:t>• Department: use mode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4955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8"/>
                </a:solidFill>
              </a:defRPr>
            </a:pPr>
            <a:r>
              <a:t>• Shift: check-in based / mode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343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8"/>
                </a:solidFill>
              </a:defRPr>
            </a:pPr>
            <a:r>
              <a:t>• Check_In: median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7274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8"/>
                </a:solidFill>
              </a:defRPr>
            </a:pPr>
            <a:r>
              <a:t>• Check_Out: median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1114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83038"/>
                </a:solidFill>
              </a:defRPr>
            </a:pPr>
            <a:r>
              <a:t>• Attendance_Status: logical rule / mode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65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Attendance KPI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1965960" cy="1417320"/>
          </a:xfrm>
          <a:prstGeom prst="roundRect">
            <a:avLst/>
          </a:prstGeom>
          <a:solidFill>
            <a:srgbClr val="EFF4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82296" cy="1417320"/>
          </a:xfrm>
          <a:prstGeom prst="rect">
            <a:avLst/>
          </a:prstGeom>
          <a:solidFill>
            <a:srgbClr val="3D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30759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7680"/>
                </a:solidFill>
              </a:defRPr>
            </a:pPr>
            <a:r>
              <a:t>Total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1848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83038"/>
                </a:solidFill>
              </a:defRPr>
            </a:pPr>
            <a:r>
              <a:t>261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1143000"/>
            <a:ext cx="1965960" cy="1417320"/>
          </a:xfrm>
          <a:prstGeom prst="roundRect">
            <a:avLst/>
          </a:prstGeom>
          <a:solidFill>
            <a:srgbClr val="EFF4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4640" y="1143000"/>
            <a:ext cx="82296" cy="1417320"/>
          </a:xfrm>
          <a:prstGeom prst="rect">
            <a:avLst/>
          </a:prstGeom>
          <a:solidFill>
            <a:srgbClr val="3F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130759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7680"/>
                </a:solidFill>
              </a:defRPr>
            </a:pPr>
            <a:r>
              <a:t>Present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161848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83038"/>
                </a:solidFill>
              </a:defRPr>
            </a:pPr>
            <a:r>
              <a:t>168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143000"/>
            <a:ext cx="1965960" cy="1417320"/>
          </a:xfrm>
          <a:prstGeom prst="roundRect">
            <a:avLst/>
          </a:prstGeom>
          <a:solidFill>
            <a:srgbClr val="EFF4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20640" y="1143000"/>
            <a:ext cx="82296" cy="1417320"/>
          </a:xfrm>
          <a:prstGeom prst="rect">
            <a:avLst/>
          </a:prstGeom>
          <a:solidFill>
            <a:srgbClr val="D6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21807" y="130759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7680"/>
                </a:solidFill>
              </a:defRPr>
            </a:pPr>
            <a:r>
              <a:t>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7" y="161848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83038"/>
                </a:solidFill>
              </a:defRPr>
            </a:pPr>
            <a:r>
              <a:t>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143000"/>
            <a:ext cx="1965960" cy="1417320"/>
          </a:xfrm>
          <a:prstGeom prst="roundRect">
            <a:avLst/>
          </a:prstGeom>
          <a:solidFill>
            <a:srgbClr val="EFF4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06640" y="1143000"/>
            <a:ext cx="82296" cy="1417320"/>
          </a:xfrm>
          <a:prstGeom prst="rect">
            <a:avLst/>
          </a:prstGeom>
          <a:solidFill>
            <a:srgbClr val="BE4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07808" y="130759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7680"/>
                </a:solidFill>
              </a:defRPr>
            </a:pPr>
            <a:r>
              <a:t>Absent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161848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83038"/>
                </a:solidFill>
              </a:defRPr>
            </a:pPr>
            <a:r>
              <a:t>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92640" y="1143000"/>
            <a:ext cx="1965960" cy="1417320"/>
          </a:xfrm>
          <a:prstGeom prst="roundRect">
            <a:avLst/>
          </a:prstGeom>
          <a:solidFill>
            <a:srgbClr val="EFF4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692640" y="1143000"/>
            <a:ext cx="82296" cy="1417320"/>
          </a:xfrm>
          <a:prstGeom prst="rect">
            <a:avLst/>
          </a:prstGeom>
          <a:solidFill>
            <a:srgbClr val="3D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893808" y="130759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7680"/>
                </a:solidFill>
              </a:defRPr>
            </a:pPr>
            <a:r>
              <a:t>Remote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3808" y="1618488"/>
            <a:ext cx="16459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83038"/>
                </a:solidFill>
              </a:defRPr>
            </a:pPr>
            <a:r>
              <a:t>27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731520" y="2971800"/>
          <a:ext cx="658368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818120" y="3154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B64"/>
                </a:solidFill>
              </a:defRPr>
            </a:pPr>
            <a:r>
              <a:t>Status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703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83038"/>
                </a:solidFill>
              </a:defRPr>
            </a:pPr>
            <a:r>
              <a:t>Present: 168 (64.4%)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2062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8"/>
                </a:solidFill>
              </a:defRPr>
            </a:pPr>
            <a:r>
              <a:t>Late: 45 (17.2%)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7091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8"/>
                </a:solidFill>
              </a:defRPr>
            </a:pPr>
            <a:r>
              <a:t>Absent: 21 (8.0%)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52120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8"/>
                </a:solidFill>
              </a:defRPr>
            </a:pPr>
            <a:r>
              <a:t>Remote: 27 (10.3%)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Attendance by Department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325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B64"/>
                </a:solidFill>
              </a:defRPr>
            </a:pPr>
            <a:r>
              <a:t>Department totals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87451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8"/>
                </a:solidFill>
              </a:defRPr>
            </a:pPr>
            <a:r>
              <a:t>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8440" y="187451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83038"/>
                </a:solidFill>
              </a:defRPr>
            </a:pPr>
            <a:r>
              <a:t>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40487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8"/>
                </a:solidFill>
              </a:defRPr>
            </a:pPr>
            <a:r>
              <a:t>Administration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2404872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83038"/>
                </a:solidFill>
              </a:defRPr>
            </a:pPr>
            <a: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93522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8"/>
                </a:solidFill>
              </a:defRPr>
            </a:pPr>
            <a:r>
              <a:t>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2935224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83038"/>
                </a:solidFill>
              </a:defRPr>
            </a:pPr>
            <a: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465575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8"/>
                </a:solidFill>
              </a:defRPr>
            </a:pPr>
            <a:r>
              <a:t>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3465575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83038"/>
                </a:solidFill>
              </a:defRPr>
            </a:pPr>
            <a:r>
              <a:t>39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995927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8"/>
                </a:solidFill>
              </a:defRPr>
            </a:pPr>
            <a:r>
              <a:t>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78440" y="3995927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83038"/>
                </a:solidFill>
              </a:defRPr>
            </a:pPr>
            <a:r>
              <a:t>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5262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83038"/>
                </a:solidFill>
              </a:defRPr>
            </a:pPr>
            <a:r>
              <a:t>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4526279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283038"/>
                </a:solidFill>
              </a:defRPr>
            </a:pPr>
            <a:r>
              <a:t>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525780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825A"/>
                </a:solidFill>
              </a:defRPr>
            </a:pPr>
            <a:r>
              <a:t>IT has the largest volume (76 records).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DCDF80FA-2897-0EBE-E477-74D5F44B872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5968229"/>
              </p:ext>
            </p:extLst>
          </p:nvPr>
        </p:nvGraphicFramePr>
        <p:xfrm>
          <a:off x="1264023" y="1691640"/>
          <a:ext cx="4572000" cy="356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27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961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dirty="0"/>
              <a:t>Attendance by Shift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17320"/>
            <a:ext cx="2240280" cy="1417320"/>
          </a:xfrm>
          <a:prstGeom prst="roundRect">
            <a:avLst/>
          </a:prstGeom>
          <a:solidFill>
            <a:srgbClr val="EFF4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92240" y="1417320"/>
            <a:ext cx="82296" cy="1417320"/>
          </a:xfrm>
          <a:prstGeom prst="rect">
            <a:avLst/>
          </a:prstGeom>
          <a:solidFill>
            <a:srgbClr val="3F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93407" y="1581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7680"/>
                </a:solidFill>
              </a:defRPr>
            </a:pPr>
            <a:r>
              <a:rPr dirty="0"/>
              <a:t>Morning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93407" y="18928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83038"/>
                </a:solidFill>
              </a:defRPr>
            </a:pPr>
            <a:r>
              <a:rPr dirty="0"/>
              <a:t>173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417320"/>
            <a:ext cx="2240280" cy="1417320"/>
          </a:xfrm>
          <a:prstGeom prst="roundRect">
            <a:avLst/>
          </a:prstGeom>
          <a:solidFill>
            <a:srgbClr val="EFF4F9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052560" y="1417320"/>
            <a:ext cx="82296" cy="1417320"/>
          </a:xfrm>
          <a:prstGeom prst="rect">
            <a:avLst/>
          </a:prstGeom>
          <a:solidFill>
            <a:srgbClr val="3D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53728" y="158191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7680"/>
                </a:solidFill>
              </a:defRPr>
            </a:pPr>
            <a:r>
              <a:t>Evening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3728" y="18928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83038"/>
                </a:solidFill>
              </a:defRPr>
            </a:pPr>
            <a:r>
              <a:rPr dirty="0"/>
              <a:t>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3375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3B64"/>
                </a:solidFill>
              </a:defRPr>
            </a:pPr>
            <a:r>
              <a:rPr dirty="0"/>
              <a:t>Morning represents 66.3% of the cleaned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690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83038"/>
                </a:solidFill>
              </a:defRPr>
            </a:pPr>
            <a:r>
              <a:rPr dirty="0"/>
              <a:t>Evening represents 33.7% of the cleaned records.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8899B7CB-4AB2-BCA9-59F7-03C5E9C17E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1749049"/>
              </p:ext>
            </p:extLst>
          </p:nvPr>
        </p:nvGraphicFramePr>
        <p:xfrm>
          <a:off x="1036320" y="1741932"/>
          <a:ext cx="4758232" cy="4021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791D5-E4F7-5AE3-6523-0DC06A795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FA5464-BA30-AC60-1BE6-6236DD85F222}"/>
              </a:ext>
            </a:extLst>
          </p:cNvPr>
          <p:cNvSpPr/>
          <p:nvPr/>
        </p:nvSpPr>
        <p:spPr>
          <a:xfrm>
            <a:off x="0" y="1027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3B2809-9FBB-93DE-280F-9EBAF002D9E5}"/>
              </a:ext>
            </a:extLst>
          </p:cNvPr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06ABF8-5AA8-B022-46AF-1FBE198A63F1}"/>
              </a:ext>
            </a:extLst>
          </p:cNvPr>
          <p:cNvSpPr txBox="1"/>
          <p:nvPr/>
        </p:nvSpPr>
        <p:spPr>
          <a:xfrm>
            <a:off x="502920" y="164592"/>
            <a:ext cx="470584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dirty="0"/>
              <a:t>Attendance </a:t>
            </a:r>
            <a:r>
              <a:rPr lang="en-US" dirty="0"/>
              <a:t>Status By Department</a:t>
            </a:r>
            <a:endParaRPr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E58FE18-B6B8-9F28-0DC8-8DFA8BC1B5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9359134"/>
              </p:ext>
            </p:extLst>
          </p:nvPr>
        </p:nvGraphicFramePr>
        <p:xfrm>
          <a:off x="2299698" y="1667012"/>
          <a:ext cx="7347736" cy="42657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62166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363432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rPr lang="en-US" dirty="0"/>
              <a:t>Attendance Status Overall</a:t>
            </a:r>
            <a:endParaRPr dirty="0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C24F6C13-1A7F-CE47-515A-76359812B7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4455564"/>
              </p:ext>
            </p:extLst>
          </p:nvPr>
        </p:nvGraphicFramePr>
        <p:xfrm>
          <a:off x="2679843" y="1598417"/>
          <a:ext cx="7192524" cy="4175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1096"/>
            <a:ext cx="12191695" cy="6858000"/>
          </a:xfrm>
          <a:prstGeom prst="rect">
            <a:avLst/>
          </a:prstGeom>
          <a:solidFill>
            <a:srgbClr val="1F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ATTENDANCE ANALYSIS —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</a:defRPr>
            </a:pPr>
            <a:r>
              <a:t>261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957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2E1F0"/>
                </a:solidFill>
              </a:defRPr>
            </a:pPr>
            <a:r>
              <a:t>cleaned attendance 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737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</a:defRPr>
            </a:pPr>
            <a:r>
              <a:t>168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3957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2E1F0"/>
                </a:solidFill>
              </a:defRPr>
            </a:pPr>
            <a:r>
              <a:t>Present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1737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</a:defRPr>
            </a:pPr>
            <a: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3957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2E1F0"/>
                </a:solidFill>
              </a:defRPr>
            </a:pPr>
            <a:r>
              <a:t>Late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245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2E1F0"/>
                </a:solidFill>
              </a:defRPr>
            </a:pPr>
            <a:r>
              <a:t>Absent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5661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</a:defRPr>
            </a:pPr>
            <a: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22452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2E1F0"/>
                </a:solidFill>
              </a:defRPr>
            </a:pPr>
            <a:r>
              <a:t>Remote records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623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D2E1F0"/>
                </a:solidFill>
              </a:defRPr>
            </a:pPr>
            <a:r>
              <a:t>The workbook supports a dashboard focused on status, department, shift, and date filtering.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549</Words>
  <Application>Microsoft Office PowerPoint</Application>
  <PresentationFormat>Widescreen</PresentationFormat>
  <Paragraphs>129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Unicode MS</vt:lpstr>
      <vt:lpstr>Calibri</vt:lpstr>
      <vt:lpstr>Cambria</vt:lpstr>
      <vt:lpstr>Office Theme</vt:lpstr>
      <vt:lpstr>PowerPoint Presentation</vt:lpstr>
      <vt:lpstr>Overview dataset</vt:lpstr>
      <vt:lpstr>PowerPoint Presentation</vt:lpstr>
      <vt:lpstr>Inconsistencies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Raadsan</dc:creator>
  <cp:keywords/>
  <dc:description>generated using python-pptx</dc:description>
  <cp:lastModifiedBy>Cabdi Cabdulaahi</cp:lastModifiedBy>
  <cp:revision>3</cp:revision>
  <dcterms:created xsi:type="dcterms:W3CDTF">2013-01-27T09:14:16Z</dcterms:created>
  <dcterms:modified xsi:type="dcterms:W3CDTF">2026-08-24T15:05:49Z</dcterms:modified>
  <cp:category/>
</cp:coreProperties>
</file>